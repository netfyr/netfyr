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C01B2B"/>
                </a:solidFill>
                <a:latin typeface="Calibri"/>
              </a:defRPr>
            </a:pPr>
            <a:r>
              <a:t>netfyr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2222"/>
                </a:solidFill>
                <a:latin typeface="Calibri"/>
              </a:defRPr>
            </a:pPr>
            <a:r>
              <a:t>Declarative Network Configuration for Linux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560320"/>
            <a:ext cx="4846320" cy="25400"/>
          </a:xfrm>
          <a:prstGeom prst="roundRect">
            <a:avLst/>
          </a:prstGeom>
          <a:solidFill>
            <a:srgbClr val="C0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029200" cy="3566160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1B2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C01B2B"/>
                </a:solidFill>
                <a:latin typeface="Calibri"/>
              </a:rPr>
              <a:t>▸ </a:t>
            </a:r>
            <a:r>
              <a:rPr sz="1700">
                <a:solidFill>
                  <a:srgbClr val="444444"/>
                </a:solidFill>
                <a:latin typeface="Calibri"/>
              </a:rPr>
              <a:t>Existing solutions rely on always-running daemons, even for static or simple configurations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C01B2B"/>
                </a:solidFill>
                <a:latin typeface="Calibri"/>
              </a:rPr>
              <a:t>▸ </a:t>
            </a:r>
            <a:r>
              <a:rPr sz="1700">
                <a:solidFill>
                  <a:srgbClr val="444444"/>
                </a:solidFill>
                <a:latin typeface="Calibri"/>
              </a:rPr>
              <a:t>No visibility into why network state changed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C01B2B"/>
                </a:solidFill>
                <a:latin typeface="Calibri"/>
              </a:rPr>
              <a:t>▸ </a:t>
            </a:r>
            <a:r>
              <a:rPr sz="1700">
                <a:solidFill>
                  <a:srgbClr val="444444"/>
                </a:solidFill>
                <a:latin typeface="Calibri"/>
              </a:rPr>
              <a:t>No visibility on previous network states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C01B2B"/>
                </a:solidFill>
                <a:latin typeface="Calibri"/>
              </a:rPr>
              <a:t>▸ </a:t>
            </a:r>
            <a:r>
              <a:rPr sz="1700">
                <a:solidFill>
                  <a:srgbClr val="444444"/>
                </a:solidFill>
                <a:latin typeface="Calibri"/>
              </a:rPr>
              <a:t>Multiple configuration sources can target the same interfaces, causing silent conflicts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029200" cy="3566160"/>
          </a:xfrm>
          <a:prstGeom prst="roundRect">
            <a:avLst/>
          </a:prstGeom>
          <a:solidFill>
            <a:srgbClr val="F0FAF4"/>
          </a:solidFill>
          <a:ln w="1905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7A3D"/>
                </a:solidFill>
                <a:latin typeface="Calibri"/>
              </a:defRPr>
            </a:pPr>
            <a:r>
              <a:t>netfyr's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5661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7A3D"/>
                </a:solidFill>
                <a:latin typeface="Calibri"/>
              </a:rPr>
              <a:t>▸ </a:t>
            </a:r>
            <a:r>
              <a:rPr sz="1700">
                <a:solidFill>
                  <a:srgbClr val="444444"/>
                </a:solidFill>
                <a:latin typeface="Calibri"/>
              </a:rPr>
              <a:t>Flexible architecture: daemon or daemonless operation with reduced functionality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7A3D"/>
                </a:solidFill>
                <a:latin typeface="Calibri"/>
              </a:rPr>
              <a:t>▸ </a:t>
            </a:r>
            <a:r>
              <a:rPr sz="1700">
                <a:solidFill>
                  <a:srgbClr val="444444"/>
                </a:solidFill>
                <a:latin typeface="Calibri"/>
              </a:rPr>
              <a:t>Track the provenance of every network configuration change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7A3D"/>
                </a:solidFill>
                <a:latin typeface="Calibri"/>
              </a:rPr>
              <a:t>▸ </a:t>
            </a:r>
            <a:r>
              <a:rPr sz="1700">
                <a:solidFill>
                  <a:srgbClr val="444444"/>
                </a:solidFill>
                <a:latin typeface="Calibri"/>
              </a:rPr>
              <a:t>Append-only journal recording all state transitions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7A3D"/>
                </a:solidFill>
                <a:latin typeface="Calibri"/>
              </a:rPr>
              <a:t>▸ </a:t>
            </a:r>
            <a:r>
              <a:rPr sz="1700">
                <a:solidFill>
                  <a:srgbClr val="444444"/>
                </a:solidFill>
                <a:latin typeface="Calibri"/>
              </a:rPr>
              <a:t>Reconciliation of multiple configurations with per-field priority and conflict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1B2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7777"/>
                </a:solidFill>
                <a:latin typeface="Calibri"/>
              </a:defRPr>
            </a:pPr>
            <a:r>
              <a:t>Modular components with layered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7304" y="1371600"/>
            <a:ext cx="32918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50184" y="14447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1B2B"/>
                </a:solidFill>
                <a:latin typeface="Calibri"/>
              </a:defRPr>
            </a:pPr>
            <a:r>
              <a:t>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4464" y="17830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7 subcommands: apply, query,</a:t>
            </a:r>
          </a:p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history, revert, show, diagnose, completions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464" y="1371600"/>
            <a:ext cx="32918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6344" y="14447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1B2B"/>
                </a:solidFill>
                <a:latin typeface="Calibri"/>
              </a:defRPr>
            </a:pPr>
            <a:r>
              <a:t>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624" y="17830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Long-running service with Varlink server,</a:t>
            </a:r>
          </a:p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DHCP factory management, netlink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4224" y="2743200"/>
            <a:ext cx="32918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2816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1B2B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1384" y="3154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NetworkBackend trait with rtnetlink</a:t>
            </a:r>
          </a:p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implementation; query and apply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0384" y="2743200"/>
            <a:ext cx="32918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3264" y="2816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1B2B"/>
                </a:solidFill>
                <a:latin typeface="Calibri"/>
              </a:defRPr>
            </a:pPr>
            <a:r>
              <a:t>Journal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544" y="3154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Append-only NDJSON history with</a:t>
            </a:r>
          </a:p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provenance tracking and state snapshots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6544" y="2743200"/>
            <a:ext cx="32918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424" y="2816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1B2B"/>
                </a:solidFill>
                <a:latin typeface="Calibri"/>
              </a:defRPr>
            </a:pPr>
            <a:r>
              <a:t>Varlink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3704" y="3154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IPC protocol for CLI-daemon</a:t>
            </a:r>
          </a:p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communication over Unix sockets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67304" y="4114800"/>
            <a:ext cx="32918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0184" y="4187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1B2B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4464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Policy model with static and dynamic</a:t>
            </a:r>
          </a:p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(DHCPv4) factories; YAML loading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464" y="4114800"/>
            <a:ext cx="32918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6344" y="4187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1B2B"/>
                </a:solidFill>
                <a:latin typeface="Calibri"/>
              </a:defRPr>
            </a:pPr>
            <a:r>
              <a:t>Reconcile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624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Per-field priority merge with explicit</a:t>
            </a:r>
          </a:p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conflict detection and diff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0384" y="5486400"/>
            <a:ext cx="3291840" cy="10515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3264" y="55595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1B2B"/>
                </a:solidFill>
                <a:latin typeface="Calibri"/>
              </a:defRPr>
            </a:pPr>
            <a:r>
              <a:t>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7544" y="58978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Core types: State, Selector, Value;</a:t>
            </a:r>
          </a:p>
          <a:p>
            <a:pPr algn="ctr">
              <a:spcAft>
                <a:spcPts val="0"/>
              </a:spcAft>
              <a:defRPr sz="1200">
                <a:solidFill>
                  <a:srgbClr val="444444"/>
                </a:solidFill>
                <a:latin typeface="Calibri"/>
              </a:defRPr>
            </a:pPr>
            <a:r>
              <a:t>JSON Schema validation; StateSet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7704" y="2423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7704" y="3794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7704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1B2B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383280" cy="2286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DHCPv4 Dynamic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Dual-socket: AF_PACKET before lease,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AF_INET (UDP) after lease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Full lifecycle: Discover → Offer →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Request → Ack → Renew → Rebind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Leases participate in priority merge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with static policies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383280" cy="2286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History Journal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Append-only NDJSON format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Triggers: PolicyApply, DhcpEvent,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ExternalChange, DaemonStartup, Revert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Rotation at 10k entries or 50MB (gzip)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Configurable retention (default 90 days)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Revert to any sequence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097280"/>
            <a:ext cx="3383280" cy="2286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External Change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5544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Netlink monitoring (link, addr, route)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500ms debounce window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Does NOT auto-revert: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changes journaled for operator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383280" cy="2286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Varlink API (daemon)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Read-only (any user): Query, DryRun,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GetStatus, GetHistory, GetJournalEntry,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GetShowInfo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Write (root only): SubmitPolicies, Revert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566160"/>
            <a:ext cx="3383280" cy="2286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Device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Multi-field AND matching: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name, entity_type, driver,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mac, pci_path, labels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566160"/>
            <a:ext cx="3383280" cy="2286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Schema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Inheritance via x-netfyr-inherit: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ethernet ← ip.json + link.json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Custom attributes: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x-netfyr-writable,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x-netfyr-keep-when-absent,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x-netfyr-comparison-keys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1B2B"/>
                </a:solidFill>
                <a:latin typeface="Calibri"/>
              </a:defRPr>
            </a:pPr>
            <a:r>
              <a:t>Tech Stack &amp; Data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931920" cy="53035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1B2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Language    </a:t>
            </a:r>
            <a:r>
              <a:rPr sz="1400">
                <a:solidFill>
                  <a:srgbClr val="222222"/>
                </a:solidFill>
                <a:latin typeface="Calibri"/>
              </a:rPr>
              <a:t>Rust (Edition 2021)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Async       </a:t>
            </a:r>
            <a:r>
              <a:rPr sz="1400">
                <a:solidFill>
                  <a:srgbClr val="222222"/>
                </a:solidFill>
                <a:latin typeface="Calibri"/>
              </a:rPr>
              <a:t>Tokio 1.x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Netlink     </a:t>
            </a:r>
            <a:r>
              <a:rPr sz="1400">
                <a:solidFill>
                  <a:srgbClr val="222222"/>
                </a:solidFill>
                <a:latin typeface="Calibri"/>
              </a:rPr>
              <a:t>rtnetlink 0.20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DHCP        </a:t>
            </a:r>
            <a:r>
              <a:rPr sz="1400">
                <a:solidFill>
                  <a:srgbClr val="222222"/>
                </a:solidFill>
                <a:latin typeface="Calibri"/>
              </a:rPr>
              <a:t>dhcproto 0.14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IPC         </a:t>
            </a:r>
            <a:r>
              <a:rPr sz="1400">
                <a:solidFill>
                  <a:srgbClr val="222222"/>
                </a:solidFill>
                <a:latin typeface="Calibri"/>
              </a:rPr>
              <a:t>Varlink / Unix socket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CLI         </a:t>
            </a:r>
            <a:r>
              <a:rPr sz="1400">
                <a:solidFill>
                  <a:srgbClr val="222222"/>
                </a:solidFill>
                <a:latin typeface="Calibri"/>
              </a:rPr>
              <a:t>clap 4 (derive)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Schema      </a:t>
            </a:r>
            <a:r>
              <a:rPr sz="1400">
                <a:solidFill>
                  <a:srgbClr val="222222"/>
                </a:solidFill>
                <a:latin typeface="Calibri"/>
              </a:rPr>
              <a:t>jsonschema (v2020-12)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Journal     </a:t>
            </a:r>
            <a:r>
              <a:rPr sz="1400">
                <a:solidFill>
                  <a:srgbClr val="222222"/>
                </a:solidFill>
                <a:latin typeface="Calibri"/>
              </a:rPr>
              <a:t>NDJSON + flate2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Logging     </a:t>
            </a:r>
            <a:r>
              <a:rPr sz="1400">
                <a:solidFill>
                  <a:srgbClr val="222222"/>
                </a:solidFill>
                <a:latin typeface="Calibri"/>
              </a:rPr>
              <a:t>tracing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01B2B"/>
                </a:solidFill>
                <a:latin typeface="Consolas"/>
              </a:rPr>
              <a:t>Systemd     </a:t>
            </a:r>
            <a:r>
              <a:rPr sz="1400">
                <a:solidFill>
                  <a:srgbClr val="222222"/>
                </a:solidFill>
                <a:latin typeface="Calibri"/>
              </a:rPr>
              <a:t>sd-notify, Type=notify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3383280" cy="53035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1B2B"/>
                </a:solidFill>
                <a:latin typeface="Calibri"/>
              </a:defRPr>
            </a:pPr>
            <a:r>
              <a:t>Core Data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C01B2B"/>
                </a:solidFill>
                <a:latin typeface="Consolas"/>
              </a:rPr>
              <a:t>State  </a:t>
            </a:r>
            <a:r>
              <a:rPr sz="1200">
                <a:solidFill>
                  <a:srgbClr val="444444"/>
                </a:solidFill>
                <a:latin typeface="Calibri"/>
              </a:rPr>
              <a:t>entity_type, selector, fields,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  metadata (UUIDv7), priority, policy_ref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C01B2B"/>
                </a:solidFill>
                <a:latin typeface="Consolas"/>
              </a:rPr>
              <a:t>Value  </a:t>
            </a:r>
            <a:r>
              <a:rPr sz="1200">
                <a:solidFill>
                  <a:srgbClr val="444444"/>
                </a:solidFill>
                <a:latin typeface="Calibri"/>
              </a:rPr>
              <a:t>String | U64 | I64 | Bool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  IpAddr | IpNetwork | List | Map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C01B2B"/>
                </a:solidFill>
                <a:latin typeface="Consolas"/>
              </a:rPr>
              <a:t>Provenance  </a:t>
            </a:r>
            <a:r>
              <a:rPr sz="1200">
                <a:solidFill>
                  <a:srgbClr val="444444"/>
                </a:solidFill>
                <a:latin typeface="Calibri"/>
              </a:rPr>
              <a:t>UserConfigured | KernelDefault |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  ExternalTool | Derived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C01B2B"/>
                </a:solidFill>
                <a:latin typeface="Consolas"/>
              </a:rPr>
              <a:t>Policy  </a:t>
            </a:r>
            <a:r>
              <a:rPr sz="1200">
                <a:solidFill>
                  <a:srgbClr val="444444"/>
                </a:solidFill>
                <a:latin typeface="Calibri"/>
              </a:rPr>
              <a:t>name, factory_type (Static | Dhcpv4),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  priority (default 100), selector, states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C01B2B"/>
                </a:solidFill>
                <a:latin typeface="Consolas"/>
              </a:rPr>
              <a:t>Selector  </a:t>
            </a:r>
            <a:r>
              <a:rPr sz="1200">
                <a:solidFill>
                  <a:srgbClr val="444444"/>
                </a:solidFill>
                <a:latin typeface="Calibri"/>
              </a:rPr>
              <a:t>name?, type?, driver?, mac?,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  pci_path?, labels? — AND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097280"/>
            <a:ext cx="3474720" cy="2286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130+ integration test scripts (shell)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Unprivileged: unshare --user --net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veth pairs + dnsmasq for DHCP tests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No-skip policy: fail prerequisites → exit(1)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make integration-test SPEC=NNN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End-to-end: apply, query, history, revert,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  DHCP, conflicts, external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566160"/>
            <a:ext cx="3474720" cy="1554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CLI Subcommands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0233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apply, query, history, revert,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show, diagnose, completions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--dry-run preview on apply &amp; revert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Exit: 0 success, 1 partial, 2 fatal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303520"/>
            <a:ext cx="3474720" cy="10972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B2B"/>
                </a:solidFill>
                <a:latin typeface="Calibri"/>
              </a:defRPr>
            </a:pPr>
            <a:r>
              <a:t>Packaging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760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RPM spec with systemd units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Man pages via clap_mangen (xtask)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License: Apache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